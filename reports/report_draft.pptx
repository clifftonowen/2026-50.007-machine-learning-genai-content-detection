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method, not the score. We ran nine phases in order and each one is presented the same way: what we considered, what we chose, and the tradeoff we accepted. Two of the nine returned nothing, and we will say 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is deliberate, so a large train-to-test gap is the designed behaviour rather than a bug. What it does mean is that same-domain validation will mislead you, and that is the thread running through the whole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spine of the talk. Point out that phases 5 and 6 are grey on purpose: tuning and ensembling both came back inside the noise floor, and that null is what redirected us to phase 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Considered: start modelling immediately, versus full EDA first, versus both in parallel. For EDA-first: stratification, class weighting and metric choice all become measured decisions. Against: a whole notebook with no score at the end. Acceptable because three of four measurements became constraints we never revisited, and the fourth was worth more than any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carries Task 2 and the component analysis its top band asks for. Considered: PCA everywhere, TruncatedSVD, feature selection, or nothing. Against PCA downstream: it is lossy rather than efficient here. Acceptable because boosted trees take sparse input directly and select features as they split.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62.5 against 37.5, an unstratified fold drifts from the population by several points, and Macro F1 is sensitive to exactly that drift. Tradeoff: it trains and tests inside the same corpora, so it overstates the leaderboard by about 0.10 and can say nothing about the test set's class balance. Acceptable because we needed a ranking instrument, not a forecasting one, and it ranked correctly every time we checked.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spread is the finding. Twelve families span 0.14 and the top four sit within 0.015, which told us in advance that model choice was worth less than we hoped. That is the evidence we used later to stop tuning and stop ensembling rather than grinding at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Two-stage search: coarse randomised, then a focused grid. Every local diagnostic said the model was healthy. The holdout agreed with CV to 0.0006, so we were not overfitting the search. Then the leaderboard came back 0.079 lower.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reusable decision in the project. Computing the noise floor cost one submission and paid for itself three times: it stopped the ensembling phase, it stopped the share search inside a flat region, and it made us disbelieve two of our own gains.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Out-of-fold AUC improved 0.0075. Kaggle moved +0.00171, under a fifth of the noise floor. Without the noise floor we would have read that as a small win and added more members. With it, the correct reading was that two consecutive phases of model work had returned nothing, so the constraint was somewhere else.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Considered: keep 0.5, tune on the holdout, sweep predicted share, or set share from the paper. The holdout inherits the training balance, so it optimises for the wrong distribution: measured at 0.66502. Tradeoff of sweeping share is that it fits the public rows. Acceptable because every alternative is simply wrong, and we manage the risk against the noise floor.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of the talk. Three phases had changed the model or the decision rule while holding the input fixed. What changed our minds was the shared-task paper's data section, which we had skimmed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Considered: keep the supplied features, add a few style features, rebuild n-grams only, or rebuild fully. Tradeoff: 40,385 hand-built columns against 5,000 supplied, far more code, and the brief awards no extra marks for own preprocessing. Acceptable because it was worth +0.044 on the graded surface, which is more than everything else we did to the model combined.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text in training carries markdown bold at ten times the human rate, and the peer-review test rows carry it at five times the machine rate. That sounded exactly like a dataset fingerprint. We built the stripped-down set specifically so the prediction could be falsified, and it was.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Considered: one global share, separate shares per group, a model per group, or domain adaptation. A model per group is impossible: 1,999 unlabelled UUID test rows. Tradeoff: both coordinates are fitted to the public leaderboard over seven submissions. Acceptable because the first correction gained 0.01764, a deliberate wrong-direction probe lost 0.00926, and the same correction reproduced on a different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one slowly. We measured the flat curve twice, correctly both times, and drew the wrong conclusion on both occasions. The only way to see it was to stop averaging.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cheapest change we made was also the biggest: one line moving off the default 0.5 cut, worth +0.078, nearly twice what rebuilding the whole representation returned. If a marker asks one question, expect it to be this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limitations rather than the score. The two we would defend hardest are that share cannot be validated locally at all, and that our grouped protocol ranks but does not forecast. Finish on the final-pick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r>
              <a:rPr sz="2800" b="1">
                <a:solidFill>
                  <a:srgbClr val="1A1A1A"/>
                </a:solidFill>
              </a:rPr>
              <a:t>Detecting Machine-Generated Text</a:t>
            </a:r>
          </a:p>
        </p:txBody>
      </p:sp>
      <p:sp>
        <p:nvSpPr>
          <p:cNvPr id="3" name="TextBox 2"/>
          <p:cNvSpPr txBox="1"/>
          <p:nvPr/>
        </p:nvSpPr>
        <p:spPr>
          <a:xfrm>
            <a:off x="548640" y="1298448"/>
            <a:ext cx="11064240" cy="548640"/>
          </a:xfrm>
          <a:prstGeom prst="rect">
            <a:avLst/>
          </a:prstGeom>
          <a:noFill/>
        </p:spPr>
        <p:txBody>
          <a:bodyPr wrap="square">
            <a:spAutoFit/>
          </a:bodyPr>
          <a:lstStyle/>
          <a:p>
            <a:r>
              <a:rPr sz="1450" b="0">
                <a:solidFill>
                  <a:srgbClr val="5A5A5A"/>
                </a:solidFill>
              </a:rPr>
              <a:t>50.007 Machine Learning  |  COLING 2026 GenAI Content Detection</a:t>
            </a:r>
          </a:p>
        </p:txBody>
      </p:sp>
      <p:sp>
        <p:nvSpPr>
          <p:cNvPr id="4" name="TextBox 3"/>
          <p:cNvSpPr txBox="1"/>
          <p:nvPr/>
        </p:nvSpPr>
        <p:spPr>
          <a:xfrm>
            <a:off x="548640" y="2286000"/>
            <a:ext cx="11064240" cy="731520"/>
          </a:xfrm>
          <a:prstGeom prst="rect">
            <a:avLst/>
          </a:prstGeom>
          <a:noFill/>
        </p:spPr>
        <p:txBody>
          <a:bodyPr wrap="square">
            <a:spAutoFit/>
          </a:bodyPr>
          <a:lstStyle/>
          <a:p>
            <a:r>
              <a:rPr sz="3800" b="1">
                <a:solidFill>
                  <a:srgbClr val="1F77B4"/>
                </a:solidFill>
              </a:rPr>
              <a:t>Public leaderboard Macro F1  0.80143</a:t>
            </a:r>
          </a:p>
        </p:txBody>
      </p:sp>
      <p:sp>
        <p:nvSpPr>
          <p:cNvPr id="5" name="TextBox 4"/>
          <p:cNvSpPr txBox="1"/>
          <p:nvPr/>
        </p:nvSpPr>
        <p:spPr>
          <a:xfrm>
            <a:off x="548640" y="3200400"/>
            <a:ext cx="11064240" cy="1463040"/>
          </a:xfrm>
          <a:prstGeom prst="rect">
            <a:avLst/>
          </a:prstGeom>
          <a:noFill/>
        </p:spPr>
        <p:txBody>
          <a:bodyPr wrap="square">
            <a:spAutoFit/>
          </a:bodyPr>
          <a:lstStyle/>
          <a:p>
            <a:r>
              <a:rPr sz="1900" b="0">
                <a:solidFill>
                  <a:srgbClr val="5A5A5A"/>
                </a:solidFill>
              </a:rPr>
              <a:t>LightGBM on 40,385 features built from raw text,</a:t>
            </a:r>
          </a:p>
          <a:p>
            <a:r>
              <a:rPr sz="1900" b="0">
                <a:solidFill>
                  <a:srgbClr val="5A5A5A"/>
                </a:solidFill>
              </a:rPr>
              <a:t>with the two test populations thresholded separately.</a:t>
            </a:r>
          </a:p>
        </p:txBody>
      </p:sp>
      <p:sp>
        <p:nvSpPr>
          <p:cNvPr id="6" name="TextBox 5"/>
          <p:cNvSpPr txBox="1"/>
          <p:nvPr/>
        </p:nvSpPr>
        <p:spPr>
          <a:xfrm>
            <a:off x="548640" y="5760720"/>
            <a:ext cx="11064240" cy="548640"/>
          </a:xfrm>
          <a:prstGeom prst="rect">
            <a:avLst/>
          </a:prstGeom>
          <a:noFill/>
        </p:spPr>
        <p:txBody>
          <a:bodyPr wrap="square">
            <a:spAutoFit/>
          </a:bodyPr>
          <a:lstStyle/>
          <a:p>
            <a:r>
              <a:rPr sz="1400" b="0">
                <a:solidFill>
                  <a:srgbClr val="5A5A5A"/>
                </a:solidFill>
              </a:rPr>
              <a:t>Cliffton, Brian, Jovyan, Koko, Vincent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r>
              <a:rPr sz="2800" b="1">
                <a:solidFill>
                  <a:srgbClr val="1A1A1A"/>
                </a:solidFill>
              </a:rPr>
              <a:t>The task, and the trap inside it</a:t>
            </a:r>
          </a:p>
        </p:txBody>
      </p:sp>
      <p:sp>
        <p:nvSpPr>
          <p:cNvPr id="3" name="TextBox 2"/>
          <p:cNvSpPr txBox="1"/>
          <p:nvPr/>
        </p:nvSpPr>
        <p:spPr>
          <a:xfrm>
            <a:off x="640080" y="1737360"/>
            <a:ext cx="10972800" cy="2019300"/>
          </a:xfrm>
          <a:prstGeom prst="rect">
            <a:avLst/>
          </a:prstGeom>
          <a:noFill/>
        </p:spPr>
        <p:txBody>
          <a:bodyPr wrap="square">
            <a:spAutoFit/>
          </a:bodyPr>
          <a:lstStyle/>
          <a:p>
            <a:pPr>
              <a:spcAft>
                <a:spcPts val="900"/>
              </a:spcAft>
            </a:pPr>
            <a:r>
              <a:rPr sz="1900">
                <a:solidFill>
                  <a:srgbClr val="1A1A1A"/>
                </a:solidFill>
              </a:rPr>
              <a:t>- Binary: is this document machine-generated? Scored on Macro F1.</a:t>
            </a:r>
          </a:p>
          <a:p>
            <a:pPr>
              <a:spcAft>
                <a:spcPts val="900"/>
              </a:spcAft>
            </a:pPr>
            <a:r>
              <a:rPr sz="1900">
                <a:solidFill>
                  <a:srgbClr val="1A1A1A"/>
                </a:solidFill>
              </a:rPr>
              <a:t>- 20,000 labelled training documents, 6,999 to predict. 62.52% machine.</a:t>
            </a:r>
          </a:p>
          <a:p>
            <a:pPr>
              <a:spcAft>
                <a:spcPts val="900"/>
              </a:spcAft>
            </a:pPr>
            <a:r>
              <a:rPr sz="1900">
                <a:solidFill>
                  <a:srgbClr val="1A1A1A"/>
                </a:solidFill>
              </a:rPr>
              <a:t>- Train is HC3 + M4GT + MAGE. Test is CUDRT + IELTS + NLPeer + PeerSum + MixSet.</a:t>
            </a:r>
          </a:p>
          <a:p>
            <a:pPr>
              <a:spcAft>
                <a:spcPts val="900"/>
              </a:spcAft>
            </a:pPr>
            <a:r>
              <a:rPr sz="1900">
                <a:solidFill>
                  <a:srgbClr val="1A1A1A"/>
                </a:solidFill>
              </a:rPr>
              <a:t>- Zero corpus overlap. The shift is by design and the brief says so.</a:t>
            </a:r>
          </a:p>
          <a:p>
            <a:pPr>
              <a:spcAft>
                <a:spcPts val="900"/>
              </a:spcAft>
            </a:pPr>
            <a:r>
              <a:rPr sz="1900">
                <a:solidFill>
                  <a:srgbClr val="1A1A1A"/>
                </a:solidFill>
              </a:rPr>
              <a:t>- Public leaderboard noise floor: 0.0084. Anything smaller is a tie.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r>
              <a:rPr sz="2800" b="1">
                <a:solidFill>
                  <a:srgbClr val="1A1A1A"/>
                </a:solidFill>
              </a:rPr>
              <a:t>Our method, in the order we ran it</a:t>
            </a:r>
          </a:p>
        </p:txBody>
      </p:sp>
      <p:sp>
        <p:nvSpPr>
          <p:cNvPr id="3" name="TextBox 2"/>
          <p:cNvSpPr txBox="1"/>
          <p:nvPr/>
        </p:nvSpPr>
        <p:spPr>
          <a:xfrm>
            <a:off x="548640" y="1298448"/>
            <a:ext cx="11064240" cy="548640"/>
          </a:xfrm>
          <a:prstGeom prst="rect">
            <a:avLst/>
          </a:prstGeom>
          <a:noFill/>
        </p:spPr>
        <p:txBody>
          <a:bodyPr wrap="square">
            <a:spAutoFit/>
          </a:bodyPr>
          <a:lstStyle/>
          <a:p>
            <a:r>
              <a:rPr sz="1450" b="0">
                <a:solidFill>
                  <a:srgbClr val="5A5A5A"/>
                </a:solidFill>
              </a:rPr>
              <a:t>Four foundation phases, two that returned nothing, three that moved the score.</a:t>
            </a:r>
          </a:p>
        </p:txBody>
      </p:sp>
      <p:pic>
        <p:nvPicPr>
          <p:cNvPr id="4" name="Picture 3" descr="methodology_flow.png"/>
          <p:cNvPicPr>
            <a:picLocks noChangeAspect="1"/>
          </p:cNvPicPr>
          <p:nvPr/>
        </p:nvPicPr>
        <p:blipFill>
          <a:blip r:embed="rId3"/>
          <a:stretch>
            <a:fillRect/>
          </a:stretch>
        </p:blipFill>
        <p:spPr>
          <a:xfrm>
            <a:off x="2914558" y="1737360"/>
            <a:ext cx="6362579" cy="4846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1  |  NOTEBOOK 01</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Measure the data before modelling it</a:t>
            </a:r>
          </a:p>
        </p:txBody>
      </p:sp>
      <p:sp>
        <p:nvSpPr>
          <p:cNvPr id="4" name="TextBox 3"/>
          <p:cNvSpPr txBox="1"/>
          <p:nvPr/>
        </p:nvSpPr>
        <p:spPr>
          <a:xfrm>
            <a:off x="640080" y="1737360"/>
            <a:ext cx="10972800" cy="2125979"/>
          </a:xfrm>
          <a:prstGeom prst="rect">
            <a:avLst/>
          </a:prstGeom>
          <a:noFill/>
        </p:spPr>
        <p:txBody>
          <a:bodyPr wrap="square">
            <a:spAutoFit/>
          </a:bodyPr>
          <a:lstStyle/>
          <a:p>
            <a:pPr>
              <a:spcAft>
                <a:spcPts val="900"/>
              </a:spcAft>
            </a:pPr>
            <a:r>
              <a:rPr sz="1700">
                <a:solidFill>
                  <a:srgbClr val="1A1A1A"/>
                </a:solidFill>
              </a:rPr>
              <a:t>- 62.52% machine, 37.48% human. Predict-majority scores 62.5% accuracy and 0.385 Macro F1.</a:t>
            </a:r>
          </a:p>
          <a:p>
            <a:pPr>
              <a:spcAft>
                <a:spcPts val="900"/>
              </a:spcAft>
            </a:pPr>
            <a:r>
              <a:rPr sz="1700">
                <a:solidFill>
                  <a:srgbClr val="1A1A1A"/>
                </a:solidFill>
              </a:rPr>
              <a:t>- So: Macro F1 not accuracy, stratify every split, class_weight balanced everywhere.</a:t>
            </a:r>
          </a:p>
          <a:p>
            <a:pPr>
              <a:spcAft>
                <a:spcPts val="900"/>
              </a:spcAft>
            </a:pPr>
            <a:r>
              <a:rPr sz="1700">
                <a:solidFill>
                  <a:srgbClr val="1A1A1A"/>
                </a:solidFill>
              </a:rPr>
              <a:t>- The matrix is 98.64% zero. About 68 of 5,000 columns active per document.</a:t>
            </a:r>
          </a:p>
          <a:p>
            <a:pPr>
              <a:spcAft>
                <a:spcPts val="900"/>
              </a:spcAft>
            </a:pPr>
            <a:r>
              <a:rPr sz="1700">
                <a:solidFill>
                  <a:srgbClr val="1A1A1A"/>
                </a:solidFill>
              </a:rPr>
              <a:t>- The test file holds two populations: 1,999 UUID ids and 5,000 numeric ids.</a:t>
            </a:r>
          </a:p>
          <a:p>
            <a:pPr>
              <a:spcAft>
                <a:spcPts val="900"/>
              </a:spcAft>
            </a:pPr>
            <a:r>
              <a:rPr sz="1700">
                <a:solidFill>
                  <a:srgbClr val="1A1A1A"/>
                </a:solidFill>
              </a:rPr>
              <a:t>- The numeric rows are peer reviews. Longer, heavier markdown, 15.8% contain "reviewer" against 0.2%.</a:t>
            </a:r>
          </a:p>
        </p:txBody>
      </p:sp>
      <p:sp>
        <p:nvSpPr>
          <p:cNvPr id="5" name="TextBox 4"/>
          <p:cNvSpPr txBox="1"/>
          <p:nvPr/>
        </p:nvSpPr>
        <p:spPr>
          <a:xfrm>
            <a:off x="640080" y="4000500"/>
            <a:ext cx="10972800" cy="342900"/>
          </a:xfrm>
          <a:prstGeom prst="rect">
            <a:avLst/>
          </a:prstGeom>
          <a:noFill/>
        </p:spPr>
        <p:txBody>
          <a:bodyPr wrap="square">
            <a:spAutoFit/>
          </a:bodyPr>
          <a:lstStyle/>
          <a:p>
            <a:r>
              <a:rPr sz="1500" b="1">
                <a:solidFill>
                  <a:srgbClr val="1F77B4"/>
                </a:solidFill>
              </a:rPr>
              <a:t>We chose: a full exploratory pass before training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2  |  NOTEBOOKS 01 AND 03  |  TASKS 1 AND 2</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Dimensionality reduction, and why we stopped using it</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PCA where the task requires it. Nowhere else.</a:t>
            </a:r>
          </a:p>
        </p:txBody>
      </p:sp>
      <p:sp>
        <p:nvSpPr>
          <p:cNvPr id="5" name="TextBox 4"/>
          <p:cNvSpPr txBox="1"/>
          <p:nvPr/>
        </p:nvSpPr>
        <p:spPr>
          <a:xfrm>
            <a:off x="640080" y="1828800"/>
            <a:ext cx="10972800" cy="2522220"/>
          </a:xfrm>
          <a:prstGeom prst="rect">
            <a:avLst/>
          </a:prstGeom>
          <a:noFill/>
        </p:spPr>
        <p:txBody>
          <a:bodyPr wrap="square">
            <a:spAutoFit/>
          </a:bodyPr>
          <a:lstStyle/>
          <a:p>
            <a:pPr>
              <a:spcAft>
                <a:spcPts val="900"/>
              </a:spcAft>
            </a:pPr>
            <a:r>
              <a:rPr sz="1600">
                <a:solidFill>
                  <a:srgbClr val="1A1A1A"/>
                </a:solidFill>
              </a:rPr>
              <a:t>- Task 2 fixes PCA at 2,000 / 1,000 / 500 / 100 components with KNN, n_neighbors = 2.</a:t>
            </a:r>
          </a:p>
          <a:p>
            <a:pPr>
              <a:spcAft>
                <a:spcPts val="900"/>
              </a:spcAft>
            </a:pPr>
            <a:r>
              <a:rPr sz="1600">
                <a:solidFill>
                  <a:srgbClr val="1A1A1A"/>
                </a:solidFill>
              </a:rPr>
              <a:t>  Variance retained: 2,000 keeps 77.0%, 1,000 keeps 56.4%, 500 keeps 39.0%, 100 keeps 15.8%.</a:t>
            </a:r>
          </a:p>
          <a:p>
            <a:pPr>
              <a:spcAft>
                <a:spcPts val="900"/>
              </a:spcAft>
            </a:pPr>
            <a:r>
              <a:rPr sz="1600">
                <a:solidFill>
                  <a:srgbClr val="1A1A1A"/>
                </a:solidFill>
              </a:rPr>
              <a:t>  No canonical threshold is reached within 2,000 components. The knee sits at 638 components and keeps only 44.5%.</a:t>
            </a:r>
          </a:p>
          <a:p>
            <a:pPr>
              <a:spcAft>
                <a:spcPts val="900"/>
              </a:spcAft>
            </a:pPr>
            <a:r>
              <a:rPr sz="1600">
                <a:solidFill>
                  <a:srgbClr val="1A1A1A"/>
                </a:solidFill>
              </a:rPr>
              <a:t>- Why: 98.64% zeros and ~68 active columns per document leaves little shared linear structure to absorb.</a:t>
            </a:r>
          </a:p>
          <a:p>
            <a:pPr>
              <a:spcAft>
                <a:spcPts val="900"/>
              </a:spcAft>
            </a:pPr>
            <a:r>
              <a:rPr sz="1600">
                <a:solidFill>
                  <a:srgbClr val="1A1A1A"/>
                </a:solidFill>
              </a:rPr>
              <a:t>- That also predicts KNN finishing tenth of twelve: distances are weak in a sparse space, and worse after discarding 84% of the variance.</a:t>
            </a:r>
          </a:p>
        </p:txBody>
      </p:sp>
      <p:sp>
        <p:nvSpPr>
          <p:cNvPr id="6" name="TextBox 5"/>
          <p:cNvSpPr txBox="1"/>
          <p:nvPr/>
        </p:nvSpPr>
        <p:spPr>
          <a:xfrm>
            <a:off x="640080" y="4488180"/>
            <a:ext cx="10972800" cy="342900"/>
          </a:xfrm>
          <a:prstGeom prst="rect">
            <a:avLst/>
          </a:prstGeom>
          <a:noFill/>
        </p:spPr>
        <p:txBody>
          <a:bodyPr wrap="square">
            <a:spAutoFit/>
          </a:bodyPr>
          <a:lstStyle/>
          <a:p>
            <a:r>
              <a:rPr sz="1500" b="1">
                <a:solidFill>
                  <a:srgbClr val="1F77B4"/>
                </a:solidFill>
              </a:rPr>
              <a:t>We chose: no dimensionality reduction for any Task 3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3  |  NOTEBOOK 01</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Lock the validation protocol</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The class balance from phase 1 decides this, not preference.</a:t>
            </a:r>
          </a:p>
        </p:txBody>
      </p:sp>
      <p:sp>
        <p:nvSpPr>
          <p:cNvPr id="5" name="TextBox 4"/>
          <p:cNvSpPr txBox="1"/>
          <p:nvPr/>
        </p:nvSpPr>
        <p:spPr>
          <a:xfrm>
            <a:off x="640080" y="1965960"/>
            <a:ext cx="3566160" cy="320040"/>
          </a:xfrm>
          <a:prstGeom prst="rect">
            <a:avLst/>
          </a:prstGeom>
          <a:noFill/>
        </p:spPr>
        <p:txBody>
          <a:bodyPr wrap="square">
            <a:spAutoFit/>
          </a:bodyPr>
          <a:lstStyle/>
          <a:p>
            <a:r>
              <a:rPr sz="1200" b="1">
                <a:solidFill>
                  <a:srgbClr val="5A5A5A"/>
                </a:solidFill>
              </a:rPr>
              <a:t>Considered</a:t>
            </a:r>
          </a:p>
        </p:txBody>
      </p:sp>
      <p:sp>
        <p:nvSpPr>
          <p:cNvPr id="6" name="TextBox 5"/>
          <p:cNvSpPr txBox="1"/>
          <p:nvPr/>
        </p:nvSpPr>
        <p:spPr>
          <a:xfrm>
            <a:off x="4206240" y="1965960"/>
            <a:ext cx="3657600" cy="320040"/>
          </a:xfrm>
          <a:prstGeom prst="rect">
            <a:avLst/>
          </a:prstGeom>
          <a:noFill/>
        </p:spPr>
        <p:txBody>
          <a:bodyPr wrap="square">
            <a:spAutoFit/>
          </a:bodyPr>
          <a:lstStyle/>
          <a:p>
            <a:r>
              <a:rPr sz="1200" b="1">
                <a:solidFill>
                  <a:srgbClr val="5A5A5A"/>
                </a:solidFill>
              </a:rPr>
              <a:t>For</a:t>
            </a:r>
          </a:p>
        </p:txBody>
      </p:sp>
      <p:sp>
        <p:nvSpPr>
          <p:cNvPr id="7" name="TextBox 6"/>
          <p:cNvSpPr txBox="1"/>
          <p:nvPr/>
        </p:nvSpPr>
        <p:spPr>
          <a:xfrm>
            <a:off x="7863840" y="1965960"/>
            <a:ext cx="3657600" cy="320040"/>
          </a:xfrm>
          <a:prstGeom prst="rect">
            <a:avLst/>
          </a:prstGeom>
          <a:noFill/>
        </p:spPr>
        <p:txBody>
          <a:bodyPr wrap="square">
            <a:spAutoFit/>
          </a:bodyPr>
          <a:lstStyle/>
          <a:p>
            <a:r>
              <a:rPr sz="1200" b="1">
                <a:solidFill>
                  <a:srgbClr val="5A5A5A"/>
                </a:solidFill>
              </a:rPr>
              <a:t>Against</a:t>
            </a:r>
          </a:p>
        </p:txBody>
      </p:sp>
      <p:sp>
        <p:nvSpPr>
          <p:cNvPr id="8" name="TextBox 7"/>
          <p:cNvSpPr txBox="1"/>
          <p:nvPr/>
        </p:nvSpPr>
        <p:spPr>
          <a:xfrm>
            <a:off x="640080" y="2377440"/>
            <a:ext cx="3383279" cy="768096"/>
          </a:xfrm>
          <a:prstGeom prst="rect">
            <a:avLst/>
          </a:prstGeom>
          <a:noFill/>
        </p:spPr>
        <p:txBody>
          <a:bodyPr wrap="square">
            <a:spAutoFit/>
          </a:bodyPr>
          <a:lstStyle/>
          <a:p>
            <a:r>
              <a:rPr sz="1400" b="0">
                <a:solidFill>
                  <a:srgbClr val="1A1A1A"/>
                </a:solidFill>
              </a:rPr>
              <a:t>Single random split</a:t>
            </a:r>
          </a:p>
        </p:txBody>
      </p:sp>
      <p:sp>
        <p:nvSpPr>
          <p:cNvPr id="9" name="TextBox 8"/>
          <p:cNvSpPr txBox="1"/>
          <p:nvPr/>
        </p:nvSpPr>
        <p:spPr>
          <a:xfrm>
            <a:off x="4206240" y="2377440"/>
            <a:ext cx="3474720" cy="768096"/>
          </a:xfrm>
          <a:prstGeom prst="rect">
            <a:avLst/>
          </a:prstGeom>
          <a:noFill/>
        </p:spPr>
        <p:txBody>
          <a:bodyPr wrap="square">
            <a:spAutoFit/>
          </a:bodyPr>
          <a:lstStyle/>
          <a:p>
            <a:r>
              <a:rPr sz="1400" b="0">
                <a:solidFill>
                  <a:srgbClr val="2CA02C"/>
                </a:solidFill>
              </a:rPr>
              <a:t>Cheapest, one number per model</a:t>
            </a:r>
          </a:p>
        </p:txBody>
      </p:sp>
      <p:sp>
        <p:nvSpPr>
          <p:cNvPr id="10" name="TextBox 9"/>
          <p:cNvSpPr txBox="1"/>
          <p:nvPr/>
        </p:nvSpPr>
        <p:spPr>
          <a:xfrm>
            <a:off x="7863840" y="2377440"/>
            <a:ext cx="3474720" cy="768096"/>
          </a:xfrm>
          <a:prstGeom prst="rect">
            <a:avLst/>
          </a:prstGeom>
          <a:noFill/>
        </p:spPr>
        <p:txBody>
          <a:bodyPr wrap="square">
            <a:spAutoFit/>
          </a:bodyPr>
          <a:lstStyle/>
          <a:p>
            <a:r>
              <a:rPr sz="1400" b="0">
                <a:solidFill>
                  <a:srgbClr val="C0392B"/>
                </a:solidFill>
              </a:rPr>
              <a:t>Too noisy to separate adjacent candidates</a:t>
            </a:r>
          </a:p>
        </p:txBody>
      </p:sp>
      <p:sp>
        <p:nvSpPr>
          <p:cNvPr id="11" name="TextBox 10"/>
          <p:cNvSpPr txBox="1"/>
          <p:nvPr/>
        </p:nvSpPr>
        <p:spPr>
          <a:xfrm>
            <a:off x="640080" y="3145536"/>
            <a:ext cx="3383279" cy="768096"/>
          </a:xfrm>
          <a:prstGeom prst="rect">
            <a:avLst/>
          </a:prstGeom>
          <a:noFill/>
        </p:spPr>
        <p:txBody>
          <a:bodyPr wrap="square">
            <a:spAutoFit/>
          </a:bodyPr>
          <a:lstStyle/>
          <a:p>
            <a:r>
              <a:rPr sz="1400" b="0">
                <a:solidFill>
                  <a:srgbClr val="1A1A1A"/>
                </a:solidFill>
              </a:rPr>
              <a:t>Plain k-fold</a:t>
            </a:r>
          </a:p>
        </p:txBody>
      </p:sp>
      <p:sp>
        <p:nvSpPr>
          <p:cNvPr id="12" name="TextBox 11"/>
          <p:cNvSpPr txBox="1"/>
          <p:nvPr/>
        </p:nvSpPr>
        <p:spPr>
          <a:xfrm>
            <a:off x="4206240" y="3145536"/>
            <a:ext cx="3474720" cy="768096"/>
          </a:xfrm>
          <a:prstGeom prst="rect">
            <a:avLst/>
          </a:prstGeom>
          <a:noFill/>
        </p:spPr>
        <p:txBody>
          <a:bodyPr wrap="square">
            <a:spAutoFit/>
          </a:bodyPr>
          <a:lstStyle/>
          <a:p>
            <a:r>
              <a:rPr sz="1400" b="0">
                <a:solidFill>
                  <a:srgbClr val="2CA02C"/>
                </a:solidFill>
              </a:rPr>
              <a:t>Uses all the data</a:t>
            </a:r>
          </a:p>
        </p:txBody>
      </p:sp>
      <p:sp>
        <p:nvSpPr>
          <p:cNvPr id="13" name="TextBox 12"/>
          <p:cNvSpPr txBox="1"/>
          <p:nvPr/>
        </p:nvSpPr>
        <p:spPr>
          <a:xfrm>
            <a:off x="7863840" y="3145536"/>
            <a:ext cx="3474720" cy="768096"/>
          </a:xfrm>
          <a:prstGeom prst="rect">
            <a:avLst/>
          </a:prstGeom>
          <a:noFill/>
        </p:spPr>
        <p:txBody>
          <a:bodyPr wrap="square">
            <a:spAutoFit/>
          </a:bodyPr>
          <a:lstStyle/>
          <a:p>
            <a:r>
              <a:rPr sz="1400" b="0">
                <a:solidFill>
                  <a:srgbClr val="C0392B"/>
                </a:solidFill>
              </a:rPr>
              <a:t>Fold balance drifts, and Macro F1 is sensitive to that</a:t>
            </a:r>
          </a:p>
        </p:txBody>
      </p:sp>
      <p:sp>
        <p:nvSpPr>
          <p:cNvPr id="14" name="TextBox 13"/>
          <p:cNvSpPr txBox="1"/>
          <p:nvPr/>
        </p:nvSpPr>
        <p:spPr>
          <a:xfrm>
            <a:off x="640080" y="3913632"/>
            <a:ext cx="3383279" cy="768096"/>
          </a:xfrm>
          <a:prstGeom prst="rect">
            <a:avLst/>
          </a:prstGeom>
          <a:noFill/>
        </p:spPr>
        <p:txBody>
          <a:bodyPr wrap="square">
            <a:spAutoFit/>
          </a:bodyPr>
          <a:lstStyle/>
          <a:p>
            <a:r>
              <a:rPr sz="1400" b="0">
                <a:solidFill>
                  <a:srgbClr val="1A1A1A"/>
                </a:solidFill>
              </a:rPr>
              <a:t>Stratified 5-fold</a:t>
            </a:r>
          </a:p>
        </p:txBody>
      </p:sp>
      <p:sp>
        <p:nvSpPr>
          <p:cNvPr id="15" name="TextBox 14"/>
          <p:cNvSpPr txBox="1"/>
          <p:nvPr/>
        </p:nvSpPr>
        <p:spPr>
          <a:xfrm>
            <a:off x="4206240" y="3913632"/>
            <a:ext cx="3474720" cy="768096"/>
          </a:xfrm>
          <a:prstGeom prst="rect">
            <a:avLst/>
          </a:prstGeom>
          <a:noFill/>
        </p:spPr>
        <p:txBody>
          <a:bodyPr wrap="square">
            <a:spAutoFit/>
          </a:bodyPr>
          <a:lstStyle/>
          <a:p>
            <a:r>
              <a:rPr sz="1400" b="0">
                <a:solidFill>
                  <a:srgbClr val="2CA02C"/>
                </a:solidFill>
              </a:rPr>
              <a:t>Every fold matches the population; gives a spread too</a:t>
            </a:r>
          </a:p>
        </p:txBody>
      </p:sp>
      <p:sp>
        <p:nvSpPr>
          <p:cNvPr id="16" name="TextBox 15"/>
          <p:cNvSpPr txBox="1"/>
          <p:nvPr/>
        </p:nvSpPr>
        <p:spPr>
          <a:xfrm>
            <a:off x="7863840" y="3913632"/>
            <a:ext cx="3474720" cy="768096"/>
          </a:xfrm>
          <a:prstGeom prst="rect">
            <a:avLst/>
          </a:prstGeom>
          <a:noFill/>
        </p:spPr>
        <p:txBody>
          <a:bodyPr wrap="square">
            <a:spAutoFit/>
          </a:bodyPr>
          <a:lstStyle/>
          <a:p>
            <a:r>
              <a:rPr sz="1400" b="0">
                <a:solidFill>
                  <a:srgbClr val="C0392B"/>
                </a:solidFill>
              </a:rPr>
              <a:t>Five fits per candidate; same-corpus only</a:t>
            </a:r>
          </a:p>
        </p:txBody>
      </p:sp>
      <p:sp>
        <p:nvSpPr>
          <p:cNvPr id="17" name="TextBox 16"/>
          <p:cNvSpPr txBox="1"/>
          <p:nvPr/>
        </p:nvSpPr>
        <p:spPr>
          <a:xfrm>
            <a:off x="640080" y="4681728"/>
            <a:ext cx="3383279" cy="768096"/>
          </a:xfrm>
          <a:prstGeom prst="rect">
            <a:avLst/>
          </a:prstGeom>
          <a:noFill/>
        </p:spPr>
        <p:txBody>
          <a:bodyPr wrap="square">
            <a:spAutoFit/>
          </a:bodyPr>
          <a:lstStyle/>
          <a:p>
            <a:r>
              <a:rPr sz="1400" b="0">
                <a:solidFill>
                  <a:srgbClr val="1A1A1A"/>
                </a:solidFill>
              </a:rPr>
              <a:t>Stratified 10-fold</a:t>
            </a:r>
          </a:p>
        </p:txBody>
      </p:sp>
      <p:sp>
        <p:nvSpPr>
          <p:cNvPr id="18" name="TextBox 17"/>
          <p:cNvSpPr txBox="1"/>
          <p:nvPr/>
        </p:nvSpPr>
        <p:spPr>
          <a:xfrm>
            <a:off x="4206240" y="4681728"/>
            <a:ext cx="3474720" cy="768096"/>
          </a:xfrm>
          <a:prstGeom prst="rect">
            <a:avLst/>
          </a:prstGeom>
          <a:noFill/>
        </p:spPr>
        <p:txBody>
          <a:bodyPr wrap="square">
            <a:spAutoFit/>
          </a:bodyPr>
          <a:lstStyle/>
          <a:p>
            <a:r>
              <a:rPr sz="1400" b="0">
                <a:solidFill>
                  <a:srgbClr val="2CA02C"/>
                </a:solidFill>
              </a:rPr>
              <a:t>Lower variance still</a:t>
            </a:r>
          </a:p>
        </p:txBody>
      </p:sp>
      <p:sp>
        <p:nvSpPr>
          <p:cNvPr id="19" name="TextBox 18"/>
          <p:cNvSpPr txBox="1"/>
          <p:nvPr/>
        </p:nvSpPr>
        <p:spPr>
          <a:xfrm>
            <a:off x="7863840" y="4681728"/>
            <a:ext cx="3474720" cy="768096"/>
          </a:xfrm>
          <a:prstGeom prst="rect">
            <a:avLst/>
          </a:prstGeom>
          <a:noFill/>
        </p:spPr>
        <p:txBody>
          <a:bodyPr wrap="square">
            <a:spAutoFit/>
          </a:bodyPr>
          <a:lstStyle/>
          <a:p>
            <a:r>
              <a:rPr sz="1400" b="0">
                <a:solidFill>
                  <a:srgbClr val="C0392B"/>
                </a:solidFill>
              </a:rPr>
              <a:t>Twice the compute for a decimal we could not use</a:t>
            </a:r>
          </a:p>
        </p:txBody>
      </p:sp>
      <p:sp>
        <p:nvSpPr>
          <p:cNvPr id="20" name="TextBox 19"/>
          <p:cNvSpPr txBox="1"/>
          <p:nvPr/>
        </p:nvSpPr>
        <p:spPr>
          <a:xfrm>
            <a:off x="640080" y="5586984"/>
            <a:ext cx="10972800" cy="571500"/>
          </a:xfrm>
          <a:prstGeom prst="rect">
            <a:avLst/>
          </a:prstGeom>
          <a:noFill/>
        </p:spPr>
        <p:txBody>
          <a:bodyPr wrap="square">
            <a:spAutoFit/>
          </a:bodyPr>
          <a:lstStyle/>
          <a:p>
            <a:r>
              <a:rPr sz="1500" b="1">
                <a:solidFill>
                  <a:srgbClr val="1F77B4"/>
                </a:solidFill>
              </a:rPr>
              <a:t>We chose: stratified 5-fold, seed 42, Macro F1, plus a 4,000-row holdout saved to disk so all five of us evaluate identical rows.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4  |  NOTEBOOK 04</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Baselines before a single hyperparameter moved</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Twelve families at library defaults. Only then did we tune.</a:t>
            </a:r>
          </a:p>
        </p:txBody>
      </p:sp>
      <p:pic>
        <p:nvPicPr>
          <p:cNvPr id="5" name="Picture 4" descr="baseline_models_cv_f1.png"/>
          <p:cNvPicPr>
            <a:picLocks noChangeAspect="1"/>
          </p:cNvPicPr>
          <p:nvPr/>
        </p:nvPicPr>
        <p:blipFill>
          <a:blip r:embed="rId3"/>
          <a:stretch>
            <a:fillRect/>
          </a:stretch>
        </p:blipFill>
        <p:spPr>
          <a:xfrm>
            <a:off x="3290302" y="1828800"/>
            <a:ext cx="5611091"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5  |  NOTEBOOKS 05 AND 06</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Tuning worked locally, and then went badly</a:t>
            </a:r>
          </a:p>
        </p:txBody>
      </p:sp>
      <p:sp>
        <p:nvSpPr>
          <p:cNvPr id="4" name="TextBox 3"/>
          <p:cNvSpPr txBox="1"/>
          <p:nvPr/>
        </p:nvSpPr>
        <p:spPr>
          <a:xfrm>
            <a:off x="640080" y="1828800"/>
            <a:ext cx="10972800" cy="2217420"/>
          </a:xfrm>
          <a:prstGeom prst="rect">
            <a:avLst/>
          </a:prstGeom>
          <a:noFill/>
        </p:spPr>
        <p:txBody>
          <a:bodyPr wrap="square">
            <a:spAutoFit/>
          </a:bodyPr>
          <a:lstStyle/>
          <a:p>
            <a:pPr>
              <a:spcAft>
                <a:spcPts val="900"/>
              </a:spcAft>
            </a:pPr>
            <a:r>
              <a:rPr sz="1800">
                <a:solidFill>
                  <a:srgbClr val="1A1A1A"/>
                </a:solidFill>
              </a:rPr>
              <a:t>- LightGBM cross-validation 0.7391 to 0.7443 after the search.</a:t>
            </a:r>
          </a:p>
          <a:p>
            <a:pPr>
              <a:spcAft>
                <a:spcPts val="900"/>
              </a:spcAft>
            </a:pPr>
            <a:r>
              <a:rPr sz="1800">
                <a:solidFill>
                  <a:srgbClr val="1A1A1A"/>
                </a:solidFill>
              </a:rPr>
              <a:t>- Untouched holdout confirmed it at 0.7437. Gap of 0.0006, so no search overfitting.</a:t>
            </a:r>
          </a:p>
          <a:p>
            <a:pPr>
              <a:spcAft>
                <a:spcPts val="900"/>
              </a:spcAft>
            </a:pPr>
            <a:r>
              <a:rPr sz="1800">
                <a:solidFill>
                  <a:srgbClr val="1A1A1A"/>
                </a:solidFill>
              </a:rPr>
              <a:t>- Threshold tuned on the holdout added a further 0.003 locally.</a:t>
            </a:r>
          </a:p>
          <a:p>
            <a:pPr>
              <a:spcAft>
                <a:spcPts val="900"/>
              </a:spcAft>
            </a:pPr>
            <a:r>
              <a:rPr sz="1800">
                <a:solidFill>
                  <a:srgbClr val="1A1A1A"/>
                </a:solidFill>
              </a:rPr>
              <a:t>- Kaggle: 0.65738 at the default cut, 0.66502 with the tuned one.</a:t>
            </a:r>
          </a:p>
          <a:p>
            <a:pPr>
              <a:spcAft>
                <a:spcPts val="900"/>
              </a:spcAft>
            </a:pPr>
            <a:r>
              <a:rPr sz="1800">
                <a:solidFill>
                  <a:srgbClr val="1A1A1A"/>
                </a:solidFill>
              </a:rPr>
              <a:t>- A gap of roughly 0.079, and our carefully tuned threshold moved the leaderboard by under 0.01.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5  |  THE DECISION</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How we reacted to a 0.079 gap</a:t>
            </a:r>
          </a:p>
        </p:txBody>
      </p:sp>
      <p:sp>
        <p:nvSpPr>
          <p:cNvPr id="4" name="TextBox 3"/>
          <p:cNvSpPr txBox="1"/>
          <p:nvPr/>
        </p:nvSpPr>
        <p:spPr>
          <a:xfrm>
            <a:off x="640080" y="1828800"/>
            <a:ext cx="3566160" cy="320040"/>
          </a:xfrm>
          <a:prstGeom prst="rect">
            <a:avLst/>
          </a:prstGeom>
          <a:noFill/>
        </p:spPr>
        <p:txBody>
          <a:bodyPr wrap="square">
            <a:spAutoFit/>
          </a:bodyPr>
          <a:lstStyle/>
          <a:p>
            <a:r>
              <a:rPr sz="1200" b="1">
                <a:solidFill>
                  <a:srgbClr val="5A5A5A"/>
                </a:solidFill>
              </a:rPr>
              <a:t>Considered</a:t>
            </a:r>
          </a:p>
        </p:txBody>
      </p:sp>
      <p:sp>
        <p:nvSpPr>
          <p:cNvPr id="5" name="TextBox 4"/>
          <p:cNvSpPr txBox="1"/>
          <p:nvPr/>
        </p:nvSpPr>
        <p:spPr>
          <a:xfrm>
            <a:off x="4206240" y="1828800"/>
            <a:ext cx="3657600" cy="320040"/>
          </a:xfrm>
          <a:prstGeom prst="rect">
            <a:avLst/>
          </a:prstGeom>
          <a:noFill/>
        </p:spPr>
        <p:txBody>
          <a:bodyPr wrap="square">
            <a:spAutoFit/>
          </a:bodyPr>
          <a:lstStyle/>
          <a:p>
            <a:r>
              <a:rPr sz="1200" b="1">
                <a:solidFill>
                  <a:srgbClr val="5A5A5A"/>
                </a:solidFill>
              </a:rPr>
              <a:t>For</a:t>
            </a:r>
          </a:p>
        </p:txBody>
      </p:sp>
      <p:sp>
        <p:nvSpPr>
          <p:cNvPr id="6" name="TextBox 5"/>
          <p:cNvSpPr txBox="1"/>
          <p:nvPr/>
        </p:nvSpPr>
        <p:spPr>
          <a:xfrm>
            <a:off x="7863840" y="1828800"/>
            <a:ext cx="3657600" cy="320040"/>
          </a:xfrm>
          <a:prstGeom prst="rect">
            <a:avLst/>
          </a:prstGeom>
          <a:noFill/>
        </p:spPr>
        <p:txBody>
          <a:bodyPr wrap="square">
            <a:spAutoFit/>
          </a:bodyPr>
          <a:lstStyle/>
          <a:p>
            <a:r>
              <a:rPr sz="1200" b="1">
                <a:solidFill>
                  <a:srgbClr val="5A5A5A"/>
                </a:solidFill>
              </a:rPr>
              <a:t>Against</a:t>
            </a:r>
          </a:p>
        </p:txBody>
      </p:sp>
      <p:sp>
        <p:nvSpPr>
          <p:cNvPr id="7" name="TextBox 6"/>
          <p:cNvSpPr txBox="1"/>
          <p:nvPr/>
        </p:nvSpPr>
        <p:spPr>
          <a:xfrm>
            <a:off x="640080" y="2240280"/>
            <a:ext cx="3383279" cy="768096"/>
          </a:xfrm>
          <a:prstGeom prst="rect">
            <a:avLst/>
          </a:prstGeom>
          <a:noFill/>
        </p:spPr>
        <p:txBody>
          <a:bodyPr wrap="square">
            <a:spAutoFit/>
          </a:bodyPr>
          <a:lstStyle/>
          <a:p>
            <a:r>
              <a:rPr sz="1400" b="0">
                <a:solidFill>
                  <a:srgbClr val="1A1A1A"/>
                </a:solidFill>
              </a:rPr>
              <a:t>Trust local, keep tuning</a:t>
            </a:r>
          </a:p>
        </p:txBody>
      </p:sp>
      <p:sp>
        <p:nvSpPr>
          <p:cNvPr id="8" name="TextBox 7"/>
          <p:cNvSpPr txBox="1"/>
          <p:nvPr/>
        </p:nvSpPr>
        <p:spPr>
          <a:xfrm>
            <a:off x="4206240" y="2240280"/>
            <a:ext cx="3474720" cy="768096"/>
          </a:xfrm>
          <a:prstGeom prst="rect">
            <a:avLst/>
          </a:prstGeom>
          <a:noFill/>
        </p:spPr>
        <p:txBody>
          <a:bodyPr wrap="square">
            <a:spAutoFit/>
          </a:bodyPr>
          <a:lstStyle/>
          <a:p>
            <a:r>
              <a:rPr sz="1400" b="0">
                <a:solidFill>
                  <a:srgbClr val="2CA02C"/>
                </a:solidFill>
              </a:rPr>
              <a:t>Local validation was clean and reproducible</a:t>
            </a:r>
          </a:p>
        </p:txBody>
      </p:sp>
      <p:sp>
        <p:nvSpPr>
          <p:cNvPr id="9" name="TextBox 8"/>
          <p:cNvSpPr txBox="1"/>
          <p:nvPr/>
        </p:nvSpPr>
        <p:spPr>
          <a:xfrm>
            <a:off x="7863840" y="2240280"/>
            <a:ext cx="3474720" cy="768096"/>
          </a:xfrm>
          <a:prstGeom prst="rect">
            <a:avLst/>
          </a:prstGeom>
          <a:noFill/>
        </p:spPr>
        <p:txBody>
          <a:bodyPr wrap="square">
            <a:spAutoFit/>
          </a:bodyPr>
          <a:lstStyle/>
          <a:p>
            <a:r>
              <a:rPr sz="1400" b="0">
                <a:solidFill>
                  <a:srgbClr val="C0392B"/>
                </a:solidFill>
              </a:rPr>
              <a:t>Local and Kaggle disagreed by 0.079</a:t>
            </a:r>
          </a:p>
        </p:txBody>
      </p:sp>
      <p:sp>
        <p:nvSpPr>
          <p:cNvPr id="10" name="TextBox 9"/>
          <p:cNvSpPr txBox="1"/>
          <p:nvPr/>
        </p:nvSpPr>
        <p:spPr>
          <a:xfrm>
            <a:off x="640080" y="3008376"/>
            <a:ext cx="3383279" cy="768096"/>
          </a:xfrm>
          <a:prstGeom prst="rect">
            <a:avLst/>
          </a:prstGeom>
          <a:noFill/>
        </p:spPr>
        <p:txBody>
          <a:bodyPr wrap="square">
            <a:spAutoFit/>
          </a:bodyPr>
          <a:lstStyle/>
          <a:p>
            <a:r>
              <a:rPr sz="1400" b="0">
                <a:solidFill>
                  <a:srgbClr val="1A1A1A"/>
                </a:solidFill>
              </a:rPr>
              <a:t>Assume a bug, audit</a:t>
            </a:r>
          </a:p>
        </p:txBody>
      </p:sp>
      <p:sp>
        <p:nvSpPr>
          <p:cNvPr id="11" name="TextBox 10"/>
          <p:cNvSpPr txBox="1"/>
          <p:nvPr/>
        </p:nvSpPr>
        <p:spPr>
          <a:xfrm>
            <a:off x="4206240" y="3008376"/>
            <a:ext cx="3474720" cy="768096"/>
          </a:xfrm>
          <a:prstGeom prst="rect">
            <a:avLst/>
          </a:prstGeom>
          <a:noFill/>
        </p:spPr>
        <p:txBody>
          <a:bodyPr wrap="square">
            <a:spAutoFit/>
          </a:bodyPr>
          <a:lstStyle/>
          <a:p>
            <a:r>
              <a:rPr sz="1400" b="0">
                <a:solidFill>
                  <a:srgbClr val="2CA02C"/>
                </a:solidFill>
              </a:rPr>
              <a:t>Cheap to check, severe if real</a:t>
            </a:r>
          </a:p>
        </p:txBody>
      </p:sp>
      <p:sp>
        <p:nvSpPr>
          <p:cNvPr id="12" name="TextBox 11"/>
          <p:cNvSpPr txBox="1"/>
          <p:nvPr/>
        </p:nvSpPr>
        <p:spPr>
          <a:xfrm>
            <a:off x="7863840" y="3008376"/>
            <a:ext cx="3474720" cy="768096"/>
          </a:xfrm>
          <a:prstGeom prst="rect">
            <a:avLst/>
          </a:prstGeom>
          <a:noFill/>
        </p:spPr>
        <p:txBody>
          <a:bodyPr wrap="square">
            <a:spAutoFit/>
          </a:bodyPr>
          <a:lstStyle/>
          <a:p>
            <a:r>
              <a:rPr sz="1400" b="0">
                <a:solidFill>
                  <a:srgbClr val="C0392B"/>
                </a:solidFill>
              </a:rPr>
              <a:t>The brief predicts this gap by design</a:t>
            </a:r>
          </a:p>
        </p:txBody>
      </p:sp>
      <p:sp>
        <p:nvSpPr>
          <p:cNvPr id="13" name="TextBox 12"/>
          <p:cNvSpPr txBox="1"/>
          <p:nvPr/>
        </p:nvSpPr>
        <p:spPr>
          <a:xfrm>
            <a:off x="640080" y="3776472"/>
            <a:ext cx="3383279" cy="1078992"/>
          </a:xfrm>
          <a:prstGeom prst="rect">
            <a:avLst/>
          </a:prstGeom>
          <a:noFill/>
        </p:spPr>
        <p:txBody>
          <a:bodyPr wrap="square">
            <a:spAutoFit/>
          </a:bodyPr>
          <a:lstStyle/>
          <a:p>
            <a:r>
              <a:rPr sz="1400" b="0">
                <a:solidFill>
                  <a:srgbClr val="1A1A1A"/>
                </a:solidFill>
              </a:rPr>
              <a:t>Tune against the leaderboard</a:t>
            </a:r>
          </a:p>
        </p:txBody>
      </p:sp>
      <p:sp>
        <p:nvSpPr>
          <p:cNvPr id="14" name="TextBox 13"/>
          <p:cNvSpPr txBox="1"/>
          <p:nvPr/>
        </p:nvSpPr>
        <p:spPr>
          <a:xfrm>
            <a:off x="4206240" y="3776472"/>
            <a:ext cx="3474720" cy="1078992"/>
          </a:xfrm>
          <a:prstGeom prst="rect">
            <a:avLst/>
          </a:prstGeom>
          <a:noFill/>
        </p:spPr>
        <p:txBody>
          <a:bodyPr wrap="square">
            <a:spAutoFit/>
          </a:bodyPr>
          <a:lstStyle/>
          <a:p>
            <a:r>
              <a:rPr sz="1400" b="0">
                <a:solidFill>
                  <a:srgbClr val="2CA02C"/>
                </a:solidFill>
              </a:rPr>
              <a:t>It is the graded surface</a:t>
            </a:r>
          </a:p>
        </p:txBody>
      </p:sp>
      <p:sp>
        <p:nvSpPr>
          <p:cNvPr id="15" name="TextBox 14"/>
          <p:cNvSpPr txBox="1"/>
          <p:nvPr/>
        </p:nvSpPr>
        <p:spPr>
          <a:xfrm>
            <a:off x="7863840" y="3776472"/>
            <a:ext cx="3474720" cy="1078992"/>
          </a:xfrm>
          <a:prstGeom prst="rect">
            <a:avLst/>
          </a:prstGeom>
          <a:noFill/>
        </p:spPr>
        <p:txBody>
          <a:bodyPr wrap="square">
            <a:spAutoFit/>
          </a:bodyPr>
          <a:lstStyle/>
          <a:p>
            <a:r>
              <a:rPr sz="1400" b="0">
                <a:solidFill>
                  <a:srgbClr val="C0392B"/>
                </a:solidFill>
              </a:rPr>
              <a:t>~3,570 rows, rationed submissions: this is how leaderboard overfitting starts</a:t>
            </a:r>
          </a:p>
        </p:txBody>
      </p:sp>
      <p:sp>
        <p:nvSpPr>
          <p:cNvPr id="16" name="TextBox 15"/>
          <p:cNvSpPr txBox="1"/>
          <p:nvPr/>
        </p:nvSpPr>
        <p:spPr>
          <a:xfrm>
            <a:off x="640080" y="4855464"/>
            <a:ext cx="3383279" cy="768096"/>
          </a:xfrm>
          <a:prstGeom prst="rect">
            <a:avLst/>
          </a:prstGeom>
          <a:noFill/>
        </p:spPr>
        <p:txBody>
          <a:bodyPr wrap="square">
            <a:spAutoFit/>
          </a:bodyPr>
          <a:lstStyle/>
          <a:p>
            <a:r>
              <a:rPr sz="1400" b="0">
                <a:solidFill>
                  <a:srgbClr val="1A1A1A"/>
                </a:solidFill>
              </a:rPr>
              <a:t>Keep both, measure the leaderboard</a:t>
            </a:r>
          </a:p>
        </p:txBody>
      </p:sp>
      <p:sp>
        <p:nvSpPr>
          <p:cNvPr id="17" name="TextBox 16"/>
          <p:cNvSpPr txBox="1"/>
          <p:nvPr/>
        </p:nvSpPr>
        <p:spPr>
          <a:xfrm>
            <a:off x="4206240" y="4855464"/>
            <a:ext cx="3474720" cy="768096"/>
          </a:xfrm>
          <a:prstGeom prst="rect">
            <a:avLst/>
          </a:prstGeom>
          <a:noFill/>
        </p:spPr>
        <p:txBody>
          <a:bodyPr wrap="square">
            <a:spAutoFit/>
          </a:bodyPr>
          <a:lstStyle/>
          <a:p>
            <a:r>
              <a:rPr sz="1400" b="0">
                <a:solidFill>
                  <a:srgbClr val="2CA02C"/>
                </a:solidFill>
              </a:rPr>
              <a:t>Makes the two instruments comparable</a:t>
            </a:r>
          </a:p>
        </p:txBody>
      </p:sp>
      <p:sp>
        <p:nvSpPr>
          <p:cNvPr id="18" name="TextBox 17"/>
          <p:cNvSpPr txBox="1"/>
          <p:nvPr/>
        </p:nvSpPr>
        <p:spPr>
          <a:xfrm>
            <a:off x="7863840" y="4855464"/>
            <a:ext cx="3474720" cy="768096"/>
          </a:xfrm>
          <a:prstGeom prst="rect">
            <a:avLst/>
          </a:prstGeom>
          <a:noFill/>
        </p:spPr>
        <p:txBody>
          <a:bodyPr wrap="square">
            <a:spAutoFit/>
          </a:bodyPr>
          <a:lstStyle/>
          <a:p>
            <a:r>
              <a:rPr sz="1400" b="0">
                <a:solidFill>
                  <a:srgbClr val="C0392B"/>
                </a:solidFill>
              </a:rPr>
              <a:t>Spends submissions on measurement, not candidates</a:t>
            </a:r>
          </a:p>
        </p:txBody>
      </p:sp>
      <p:sp>
        <p:nvSpPr>
          <p:cNvPr id="19" name="TextBox 18"/>
          <p:cNvSpPr txBox="1"/>
          <p:nvPr/>
        </p:nvSpPr>
        <p:spPr>
          <a:xfrm>
            <a:off x="640080" y="5760720"/>
            <a:ext cx="10972800" cy="571500"/>
          </a:xfrm>
          <a:prstGeom prst="rect">
            <a:avLst/>
          </a:prstGeom>
          <a:noFill/>
        </p:spPr>
        <p:txBody>
          <a:bodyPr wrap="square">
            <a:spAutoFit/>
          </a:bodyPr>
          <a:lstStyle/>
          <a:p>
            <a:r>
              <a:rPr sz="1500" b="1">
                <a:solidFill>
                  <a:srgbClr val="1F77B4"/>
                </a:solidFill>
              </a:rPr>
              <a:t>We chose: keep local validation for ranking, audit for leakage once, and compute the leaderboard noise floor at 0.0084.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6  |  NOTEBOOKS 07 AND 10</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Ensembling, and an honest null</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Six members, four combiner families, forty-eight configurations.</a:t>
            </a:r>
          </a:p>
        </p:txBody>
      </p:sp>
      <p:pic>
        <p:nvPicPr>
          <p:cNvPr id="5" name="Picture 4" descr="ensemble_combiner_leaderboard.png"/>
          <p:cNvPicPr>
            <a:picLocks noChangeAspect="1"/>
          </p:cNvPicPr>
          <p:nvPr/>
        </p:nvPicPr>
        <p:blipFill>
          <a:blip r:embed="rId3"/>
          <a:stretch>
            <a:fillRect/>
          </a:stretch>
        </p:blipFill>
        <p:spPr>
          <a:xfrm>
            <a:off x="984351" y="1920240"/>
            <a:ext cx="10222992" cy="3931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7  |  NOTEBOOKS 08, 09 AND 11</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Threshold calibration, and a confound we had been carrying</a:t>
            </a:r>
          </a:p>
        </p:txBody>
      </p:sp>
      <p:sp>
        <p:nvSpPr>
          <p:cNvPr id="4" name="TextBox 3"/>
          <p:cNvSpPr txBox="1"/>
          <p:nvPr/>
        </p:nvSpPr>
        <p:spPr>
          <a:xfrm>
            <a:off x="640080" y="1737360"/>
            <a:ext cx="10972800" cy="3726179"/>
          </a:xfrm>
          <a:prstGeom prst="rect">
            <a:avLst/>
          </a:prstGeom>
          <a:noFill/>
        </p:spPr>
        <p:txBody>
          <a:bodyPr wrap="square">
            <a:spAutoFit/>
          </a:bodyPr>
          <a:lstStyle/>
          <a:p>
            <a:pPr>
              <a:spcAft>
                <a:spcPts val="900"/>
              </a:spcAft>
            </a:pPr>
            <a:r>
              <a:rPr sz="1600">
                <a:solidFill>
                  <a:srgbClr val="1A1A1A"/>
                </a:solidFill>
              </a:rPr>
              <a:t>- A 0.5 cut silently assumes the test balance equals the training balance of 62.5%. The brief says it does not.</a:t>
            </a:r>
          </a:p>
          <a:p>
            <a:pPr>
              <a:spcAft>
                <a:spcPts val="900"/>
              </a:spcAft>
            </a:pPr>
            <a:r>
              <a:rPr sz="1600">
                <a:solidFill>
                  <a:srgbClr val="1A1A1A"/>
                </a:solidFill>
              </a:rPr>
              <a:t>- Tuning the threshold on our holdout moved it the wrong way: 0.66502.</a:t>
            </a:r>
          </a:p>
          <a:p>
            <a:pPr>
              <a:spcAft>
                <a:spcPts val="900"/>
              </a:spcAft>
            </a:pPr>
            <a:r>
              <a:rPr sz="1600">
                <a:solidFill>
                  <a:srgbClr val="1A1A1A"/>
                </a:solidFill>
              </a:rPr>
              <a:t>- No local data can estimate the test class balance. Dev and holdout are both carved from training.</a:t>
            </a:r>
          </a:p>
          <a:p>
            <a:pPr>
              <a:spcAft>
                <a:spcPts val="900"/>
              </a:spcAft>
            </a:pPr>
            <a:r>
              <a:rPr sz="1600">
                <a:solidFill>
                  <a:srgbClr val="1A1A1A"/>
                </a:solidFill>
              </a:rPr>
              <a:t>- So we reparameterised: sort by score, label a fixed share machine. Comparable across models, and sweepable.</a:t>
            </a:r>
          </a:p>
          <a:p>
            <a:pPr>
              <a:spcAft>
                <a:spcPts val="900"/>
              </a:spcAft>
            </a:pPr>
            <a:r>
              <a:rPr sz="1600">
                <a:solidFill>
                  <a:srgbClr val="1A1A1A"/>
                </a:solidFill>
              </a:rPr>
              <a:t>- That exposed the confound: every model had been submitted at whatever share its own default threshold produced.</a:t>
            </a:r>
          </a:p>
          <a:p>
            <a:pPr>
              <a:spcAft>
                <a:spcPts val="900"/>
              </a:spcAft>
            </a:pPr>
            <a:r>
              <a:rPr sz="1600">
                <a:solidFill>
                  <a:srgbClr val="1A1A1A"/>
                </a:solidFill>
              </a:rPr>
              <a:t>- At a matched share, LightGBM beat ElasticNet by 0.0189, matching its local lead. Local validation had never been broken.</a:t>
            </a:r>
          </a:p>
          <a:p>
            <a:pPr>
              <a:spcAft>
                <a:spcPts val="900"/>
              </a:spcAft>
            </a:pPr>
            <a:r>
              <a:rPr sz="1600">
                <a:solidFill>
                  <a:srgbClr val="1A1A1A"/>
                </a:solidFill>
              </a:rPr>
              <a:t>- Moving the tuned LightGBM off the default cut: 0.65738 to 0.73583. The largest single gain of the project, from one line of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8  |  READING THE PAPER PROPERLY</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The pivot: we had never questioned the input</a:t>
            </a:r>
          </a:p>
        </p:txBody>
      </p:sp>
      <p:sp>
        <p:nvSpPr>
          <p:cNvPr id="4" name="TextBox 3"/>
          <p:cNvSpPr txBox="1"/>
          <p:nvPr/>
        </p:nvSpPr>
        <p:spPr>
          <a:xfrm>
            <a:off x="640080" y="1737360"/>
            <a:ext cx="10972800" cy="3200400"/>
          </a:xfrm>
          <a:prstGeom prst="rect">
            <a:avLst/>
          </a:prstGeom>
          <a:noFill/>
        </p:spPr>
        <p:txBody>
          <a:bodyPr wrap="square">
            <a:spAutoFit/>
          </a:bodyPr>
          <a:lstStyle/>
          <a:p>
            <a:pPr>
              <a:spcAft>
                <a:spcPts val="900"/>
              </a:spcAft>
            </a:pPr>
            <a:r>
              <a:rPr sz="1650">
                <a:solidFill>
                  <a:srgbClr val="1A1A1A"/>
                </a:solidFill>
              </a:rPr>
              <a:t>- The paper: train is HC3 + M4GT + MAGE, test is CUDRT + IELTS + NLPeer + PeerSum + MixSet, no overlap.</a:t>
            </a:r>
          </a:p>
          <a:p>
            <a:pPr>
              <a:spcAft>
                <a:spcPts val="900"/>
              </a:spcAft>
            </a:pPr>
            <a:r>
              <a:rPr sz="1650">
                <a:solidFill>
                  <a:srgbClr val="1A1A1A"/>
                </a:solidFill>
              </a:rPr>
              <a:t>- It also gives the balances: 62.6% machine in train against 53.1% in test. Both matched what we had measured.</a:t>
            </a:r>
          </a:p>
          <a:p>
            <a:pPr>
              <a:spcAft>
                <a:spcPts val="900"/>
              </a:spcAft>
            </a:pPr>
            <a:r>
              <a:rPr sz="1650">
                <a:solidFill>
                  <a:srgbClr val="1A1A1A"/>
                </a:solidFill>
              </a:rPr>
              <a:t>- The supplied features are top-5,000 TF-IDF over lemmas with stop words removed.</a:t>
            </a:r>
          </a:p>
          <a:p>
            <a:pPr>
              <a:spcAft>
                <a:spcPts val="900"/>
              </a:spcAft>
            </a:pPr>
            <a:r>
              <a:rPr sz="1650">
                <a:solidFill>
                  <a:srgbClr val="1A1A1A"/>
                </a:solidFill>
              </a:rPr>
              <a:t>- That is a pure content signal, and content vocabulary is exactly what changes when the corpus changes.</a:t>
            </a:r>
          </a:p>
          <a:p>
            <a:pPr>
              <a:spcAft>
                <a:spcPts val="900"/>
              </a:spcAft>
            </a:pPr>
            <a:r>
              <a:rPr sz="1650">
                <a:solidFill>
                  <a:srgbClr val="1A1A1A"/>
                </a:solidFill>
              </a:rPr>
              <a:t>- Function words, punctuation, casing and layout survive a corpus change. The course preprocessing deletes precisely those.</a:t>
            </a:r>
          </a:p>
          <a:p>
            <a:pPr>
              <a:spcAft>
                <a:spcPts val="900"/>
              </a:spcAft>
            </a:pPr>
            <a:r>
              <a:rPr sz="1650">
                <a:solidFill>
                  <a:srgbClr val="1A1A1A"/>
                </a:solidFill>
              </a:rPr>
              <a:t>- The raw text had been sitting in train.csv, untouched for seven notebooks.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8  |  NOTEBOOKS 12 TO 15</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Rebuilding the representation: +0.044 on the leaderboard</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Every dense block alone scores below the supplied control. Together they beat it by 0.115.</a:t>
            </a:r>
          </a:p>
        </p:txBody>
      </p:sp>
      <p:pic>
        <p:nvPicPr>
          <p:cNvPr id="5" name="Picture 4" descr="representation_comparison.png"/>
          <p:cNvPicPr>
            <a:picLocks noChangeAspect="1"/>
          </p:cNvPicPr>
          <p:nvPr/>
        </p:nvPicPr>
        <p:blipFill>
          <a:blip r:embed="rId3"/>
          <a:stretch>
            <a:fillRect/>
          </a:stretch>
        </p:blipFill>
        <p:spPr>
          <a:xfrm>
            <a:off x="2557119" y="1920240"/>
            <a:ext cx="7077456" cy="3931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8  |  A TEST BUILT TO BE ABLE TO FAIL</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We predicted the formatting features were artifacts. They were not.</a:t>
            </a:r>
          </a:p>
        </p:txBody>
      </p:sp>
      <p:sp>
        <p:nvSpPr>
          <p:cNvPr id="4" name="TextBox 3"/>
          <p:cNvSpPr txBox="1"/>
          <p:nvPr/>
        </p:nvSpPr>
        <p:spPr>
          <a:xfrm>
            <a:off x="640080" y="1828800"/>
            <a:ext cx="10972800" cy="2385060"/>
          </a:xfrm>
          <a:prstGeom prst="rect">
            <a:avLst/>
          </a:prstGeom>
          <a:noFill/>
        </p:spPr>
        <p:txBody>
          <a:bodyPr wrap="square">
            <a:spAutoFit/>
          </a:bodyPr>
          <a:lstStyle/>
          <a:p>
            <a:pPr>
              <a:spcAft>
                <a:spcPts val="900"/>
              </a:spcAft>
            </a:pPr>
            <a:r>
              <a:rPr sz="1700">
                <a:solidFill>
                  <a:srgbClr val="1A1A1A"/>
                </a:solidFill>
              </a:rPr>
              <a:t>- Hypothesis: layout and punctuation are dataset fingerprints and will not survive the corpus change.</a:t>
            </a:r>
          </a:p>
          <a:p>
            <a:pPr>
              <a:spcAft>
                <a:spcPts val="900"/>
              </a:spcAft>
            </a:pPr>
            <a:r>
              <a:rPr sz="1700">
                <a:solidFill>
                  <a:srgbClr val="1A1A1A"/>
                </a:solidFill>
              </a:rPr>
              <a:t>- Test: ship a stripped set of function words and character n-grams only.</a:t>
            </a:r>
          </a:p>
          <a:p>
            <a:pPr>
              <a:spcAft>
                <a:spcPts val="900"/>
              </a:spcAft>
            </a:pPr>
            <a:r>
              <a:rPr sz="1700">
                <a:solidFill>
                  <a:srgbClr val="1A1A1A"/>
                </a:solidFill>
              </a:rPr>
              <a:t>- Result: it lost 0.04944, six times the noise floor, in the opposite direction.</a:t>
            </a:r>
          </a:p>
          <a:p>
            <a:pPr>
              <a:spcAft>
                <a:spcPts val="900"/>
              </a:spcAft>
            </a:pPr>
            <a:r>
              <a:rPr sz="1700">
                <a:solidFill>
                  <a:srgbClr val="1A1A1A"/>
                </a:solidFill>
              </a:rPr>
              <a:t>- Second falsified prediction: extending the diversity block made transfer worse while improving same-domain fit, which is the memorisation signature.</a:t>
            </a:r>
          </a:p>
          <a:p>
            <a:pPr>
              <a:spcAft>
                <a:spcPts val="900"/>
              </a:spcAft>
            </a:pPr>
            <a:r>
              <a:rPr sz="1700">
                <a:solidFill>
                  <a:srgbClr val="1A1A1A"/>
                </a:solidFill>
              </a:rPr>
              <a:t>- We would rather report two falsified predictions than a roadmap where every idea worked.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PHASE 9  |  NOTEBOOK 16</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Calibration revisited, one share per population</a:t>
            </a:r>
          </a:p>
        </p:txBody>
      </p:sp>
      <p:sp>
        <p:nvSpPr>
          <p:cNvPr id="4" name="TextBox 3"/>
          <p:cNvSpPr txBox="1"/>
          <p:nvPr/>
        </p:nvSpPr>
        <p:spPr>
          <a:xfrm>
            <a:off x="548640" y="1298448"/>
            <a:ext cx="11064240" cy="548640"/>
          </a:xfrm>
          <a:prstGeom prst="rect">
            <a:avLst/>
          </a:prstGeom>
          <a:noFill/>
        </p:spPr>
        <p:txBody>
          <a:bodyPr wrap="square">
            <a:spAutoFit/>
          </a:bodyPr>
          <a:lstStyle/>
          <a:p>
            <a:r>
              <a:rPr sz="1450" b="0">
                <a:solidFill>
                  <a:srgbClr val="5A5A5A"/>
                </a:solidFill>
              </a:rPr>
              <a:t>uuid 0.6198, numeric 0.4756. No change to the model at all.</a:t>
            </a:r>
          </a:p>
        </p:txBody>
      </p:sp>
      <p:pic>
        <p:nvPicPr>
          <p:cNvPr id="5" name="Picture 4" descr="share_surface.png"/>
          <p:cNvPicPr>
            <a:picLocks noChangeAspect="1"/>
          </p:cNvPicPr>
          <p:nvPr/>
        </p:nvPicPr>
        <p:blipFill>
          <a:blip r:embed="rId3"/>
          <a:stretch>
            <a:fillRect/>
          </a:stretch>
        </p:blipFill>
        <p:spPr>
          <a:xfrm>
            <a:off x="815187" y="2011680"/>
            <a:ext cx="10561320" cy="38404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
            <a:ext cx="11064240" cy="365760"/>
          </a:xfrm>
          <a:prstGeom prst="rect">
            <a:avLst/>
          </a:prstGeom>
          <a:noFill/>
        </p:spPr>
        <p:txBody>
          <a:bodyPr wrap="square">
            <a:spAutoFit/>
          </a:bodyPr>
          <a:lstStyle/>
          <a:p>
            <a:r>
              <a:rPr sz="1100" b="1">
                <a:solidFill>
                  <a:srgbClr val="1F77B4"/>
                </a:solidFill>
              </a:rPr>
              <a:t>THE IDEA THAT GENERALISES</a:t>
            </a:r>
          </a:p>
        </p:txBody>
      </p:sp>
      <p:sp>
        <p:nvSpPr>
          <p:cNvPr id="3" name="TextBox 2"/>
          <p:cNvSpPr txBox="1"/>
          <p:nvPr/>
        </p:nvSpPr>
        <p:spPr>
          <a:xfrm>
            <a:off x="548640" y="566928"/>
            <a:ext cx="11064240" cy="822960"/>
          </a:xfrm>
          <a:prstGeom prst="rect">
            <a:avLst/>
          </a:prstGeom>
          <a:noFill/>
        </p:spPr>
        <p:txBody>
          <a:bodyPr wrap="square">
            <a:spAutoFit/>
          </a:bodyPr>
          <a:lstStyle/>
          <a:p>
            <a:r>
              <a:rPr sz="2800" b="1">
                <a:solidFill>
                  <a:srgbClr val="1A1A1A"/>
                </a:solidFill>
              </a:rPr>
              <a:t>Why the global sweep looked flat</a:t>
            </a:r>
          </a:p>
        </p:txBody>
      </p:sp>
      <p:sp>
        <p:nvSpPr>
          <p:cNvPr id="4" name="TextBox 3"/>
          <p:cNvSpPr txBox="1"/>
          <p:nvPr/>
        </p:nvSpPr>
        <p:spPr>
          <a:xfrm>
            <a:off x="822960" y="1828800"/>
            <a:ext cx="10515600" cy="2011680"/>
          </a:xfrm>
          <a:prstGeom prst="rect">
            <a:avLst/>
          </a:prstGeom>
          <a:noFill/>
        </p:spPr>
        <p:txBody>
          <a:bodyPr wrap="square">
            <a:spAutoFit/>
          </a:bodyPr>
          <a:lstStyle/>
          <a:p>
            <a:r>
              <a:rPr sz="2500" b="1">
                <a:solidFill>
                  <a:srgbClr val="1F77B4"/>
                </a:solidFill>
              </a:rPr>
              <a:t>When one global threshold is applied to a population that is a mixture,</a:t>
            </a:r>
          </a:p>
          <a:p>
            <a:r>
              <a:rPr sz="2500" b="1">
                <a:solidFill>
                  <a:srgbClr val="1F77B4"/>
                </a:solidFill>
              </a:rPr>
              <a:t>the optimum for the mixture can be flat while the component optima are</a:t>
            </a:r>
          </a:p>
          <a:p>
            <a:r>
              <a:rPr sz="2500" b="1">
                <a:solidFill>
                  <a:srgbClr val="1F77B4"/>
                </a:solidFill>
              </a:rPr>
              <a:t>far apart and moving in opposite directions.</a:t>
            </a:r>
          </a:p>
        </p:txBody>
      </p:sp>
      <p:sp>
        <p:nvSpPr>
          <p:cNvPr id="5" name="TextBox 4"/>
          <p:cNvSpPr txBox="1"/>
          <p:nvPr/>
        </p:nvSpPr>
        <p:spPr>
          <a:xfrm>
            <a:off x="640080" y="4114800"/>
            <a:ext cx="10972800" cy="1432560"/>
          </a:xfrm>
          <a:prstGeom prst="rect">
            <a:avLst/>
          </a:prstGeom>
          <a:noFill/>
        </p:spPr>
        <p:txBody>
          <a:bodyPr wrap="square">
            <a:spAutoFit/>
          </a:bodyPr>
          <a:lstStyle/>
          <a:p>
            <a:pPr>
              <a:spcAft>
                <a:spcPts val="900"/>
              </a:spcAft>
            </a:pPr>
            <a:r>
              <a:rPr sz="1600">
                <a:solidFill>
                  <a:srgbClr val="1A1A1A"/>
                </a:solidFill>
              </a:rPr>
              <a:t>- UUID rows wanted a higher predicted machine share. Numeric rows wanted a lower one.</a:t>
            </a:r>
          </a:p>
          <a:p>
            <a:pPr>
              <a:spcAft>
                <a:spcPts val="900"/>
              </a:spcAft>
            </a:pPr>
            <a:r>
              <a:rPr sz="1600">
                <a:solidFill>
                  <a:srgbClr val="1A1A1A"/>
                </a:solidFill>
              </a:rPr>
              <a:t>- Roughly +0.019 and roughly -0.019, cancelling in the average.</a:t>
            </a:r>
          </a:p>
          <a:p>
            <a:pPr>
              <a:spcAft>
                <a:spcPts val="900"/>
              </a:spcAft>
            </a:pPr>
            <a:r>
              <a:rPr sz="1600">
                <a:solidFill>
                  <a:srgbClr val="1A1A1A"/>
                </a:solidFill>
              </a:rPr>
              <a:t>- Correcting them separately: +0.022 on the leaderboard, with no model change.</a:t>
            </a:r>
          </a:p>
          <a:p>
            <a:pPr>
              <a:spcAft>
                <a:spcPts val="900"/>
              </a:spcAft>
            </a:pPr>
            <a:r>
              <a:rPr sz="1600">
                <a:solidFill>
                  <a:srgbClr val="1A1A1A"/>
                </a:solidFill>
              </a:rPr>
              <a:t>- Confirmed independently on a second, unrelated model to within 0.001.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r>
              <a:rPr sz="2800" b="1">
                <a:solidFill>
                  <a:srgbClr val="1A1A1A"/>
                </a:solidFill>
              </a:rPr>
              <a:t>Where the gain actually came from</a:t>
            </a:r>
          </a:p>
        </p:txBody>
      </p:sp>
      <p:sp>
        <p:nvSpPr>
          <p:cNvPr id="3" name="TextBox 2"/>
          <p:cNvSpPr txBox="1"/>
          <p:nvPr/>
        </p:nvSpPr>
        <p:spPr>
          <a:xfrm>
            <a:off x="731520" y="2377440"/>
            <a:ext cx="3657600" cy="914400"/>
          </a:xfrm>
          <a:prstGeom prst="rect">
            <a:avLst/>
          </a:prstGeom>
          <a:noFill/>
        </p:spPr>
        <p:txBody>
          <a:bodyPr wrap="square">
            <a:spAutoFit/>
          </a:bodyPr>
          <a:lstStyle/>
          <a:p>
            <a:r>
              <a:rPr sz="4800" b="1">
                <a:solidFill>
                  <a:srgbClr val="2CA02C"/>
                </a:solidFill>
              </a:rPr>
              <a:t>+0.078</a:t>
            </a:r>
          </a:p>
        </p:txBody>
      </p:sp>
      <p:sp>
        <p:nvSpPr>
          <p:cNvPr id="4" name="TextBox 3"/>
          <p:cNvSpPr txBox="1"/>
          <p:nvPr/>
        </p:nvSpPr>
        <p:spPr>
          <a:xfrm>
            <a:off x="731520" y="3291840"/>
            <a:ext cx="3657600" cy="914400"/>
          </a:xfrm>
          <a:prstGeom prst="rect">
            <a:avLst/>
          </a:prstGeom>
          <a:noFill/>
        </p:spPr>
        <p:txBody>
          <a:bodyPr wrap="square">
            <a:spAutoFit/>
          </a:bodyPr>
          <a:lstStyle/>
          <a:p>
            <a:r>
              <a:rPr sz="1300" b="0">
                <a:solidFill>
                  <a:srgbClr val="5A5A5A"/>
                </a:solidFill>
              </a:rPr>
              <a:t>global share, off the default cut (phase 7)</a:t>
            </a:r>
          </a:p>
        </p:txBody>
      </p:sp>
      <p:sp>
        <p:nvSpPr>
          <p:cNvPr id="5" name="TextBox 4"/>
          <p:cNvSpPr txBox="1"/>
          <p:nvPr/>
        </p:nvSpPr>
        <p:spPr>
          <a:xfrm>
            <a:off x="4480560" y="2377440"/>
            <a:ext cx="3657600" cy="914400"/>
          </a:xfrm>
          <a:prstGeom prst="rect">
            <a:avLst/>
          </a:prstGeom>
          <a:noFill/>
        </p:spPr>
        <p:txBody>
          <a:bodyPr wrap="square">
            <a:spAutoFit/>
          </a:bodyPr>
          <a:lstStyle/>
          <a:p>
            <a:r>
              <a:rPr sz="4800" b="1">
                <a:solidFill>
                  <a:srgbClr val="1F77B4"/>
                </a:solidFill>
              </a:rPr>
              <a:t>+0.044</a:t>
            </a:r>
          </a:p>
        </p:txBody>
      </p:sp>
      <p:sp>
        <p:nvSpPr>
          <p:cNvPr id="6" name="TextBox 5"/>
          <p:cNvSpPr txBox="1"/>
          <p:nvPr/>
        </p:nvSpPr>
        <p:spPr>
          <a:xfrm>
            <a:off x="4480560" y="3291840"/>
            <a:ext cx="3657600" cy="914400"/>
          </a:xfrm>
          <a:prstGeom prst="rect">
            <a:avLst/>
          </a:prstGeom>
          <a:noFill/>
        </p:spPr>
        <p:txBody>
          <a:bodyPr wrap="square">
            <a:spAutoFit/>
          </a:bodyPr>
          <a:lstStyle/>
          <a:p>
            <a:r>
              <a:rPr sz="1300" b="0">
                <a:solidFill>
                  <a:srgbClr val="5A5A5A"/>
                </a:solidFill>
              </a:rPr>
              <a:t>raw-text representation (phase 8)</a:t>
            </a:r>
          </a:p>
        </p:txBody>
      </p:sp>
      <p:sp>
        <p:nvSpPr>
          <p:cNvPr id="7" name="TextBox 6"/>
          <p:cNvSpPr txBox="1"/>
          <p:nvPr/>
        </p:nvSpPr>
        <p:spPr>
          <a:xfrm>
            <a:off x="8229600" y="2377440"/>
            <a:ext cx="3657600" cy="914400"/>
          </a:xfrm>
          <a:prstGeom prst="rect">
            <a:avLst/>
          </a:prstGeom>
          <a:noFill/>
        </p:spPr>
        <p:txBody>
          <a:bodyPr wrap="square">
            <a:spAutoFit/>
          </a:bodyPr>
          <a:lstStyle/>
          <a:p>
            <a:r>
              <a:rPr sz="4800" b="1">
                <a:solidFill>
                  <a:srgbClr val="2CA02C"/>
                </a:solidFill>
              </a:rPr>
              <a:t>+0.022</a:t>
            </a:r>
          </a:p>
        </p:txBody>
      </p:sp>
      <p:sp>
        <p:nvSpPr>
          <p:cNvPr id="8" name="TextBox 7"/>
          <p:cNvSpPr txBox="1"/>
          <p:nvPr/>
        </p:nvSpPr>
        <p:spPr>
          <a:xfrm>
            <a:off x="8229600" y="3291840"/>
            <a:ext cx="3657600" cy="914400"/>
          </a:xfrm>
          <a:prstGeom prst="rect">
            <a:avLst/>
          </a:prstGeom>
          <a:noFill/>
        </p:spPr>
        <p:txBody>
          <a:bodyPr wrap="square">
            <a:spAutoFit/>
          </a:bodyPr>
          <a:lstStyle/>
          <a:p>
            <a:r>
              <a:rPr sz="1300" b="0">
                <a:solidFill>
                  <a:srgbClr val="5A5A5A"/>
                </a:solidFill>
              </a:rPr>
              <a:t>per-group thresholding (phase 9)</a:t>
            </a:r>
          </a:p>
        </p:txBody>
      </p:sp>
      <p:sp>
        <p:nvSpPr>
          <p:cNvPr id="9" name="TextBox 8"/>
          <p:cNvSpPr txBox="1"/>
          <p:nvPr/>
        </p:nvSpPr>
        <p:spPr>
          <a:xfrm>
            <a:off x="731520" y="4434840"/>
            <a:ext cx="10789920" cy="1280160"/>
          </a:xfrm>
          <a:prstGeom prst="rect">
            <a:avLst/>
          </a:prstGeom>
          <a:noFill/>
        </p:spPr>
        <p:txBody>
          <a:bodyPr wrap="square">
            <a:spAutoFit/>
          </a:bodyPr>
          <a:lstStyle/>
          <a:p>
            <a:r>
              <a:rPr sz="1900" b="1">
                <a:solidFill>
                  <a:srgbClr val="1A1A1A"/>
                </a:solidFill>
              </a:rPr>
              <a:t>0.65738 to 0.80143. About 70% from how scores become labels, 30% from what the model sees.</a:t>
            </a:r>
          </a:p>
        </p:txBody>
      </p:sp>
      <p:sp>
        <p:nvSpPr>
          <p:cNvPr id="10" name="TextBox 9"/>
          <p:cNvSpPr txBox="1"/>
          <p:nvPr/>
        </p:nvSpPr>
        <p:spPr>
          <a:xfrm>
            <a:off x="731520" y="5120640"/>
            <a:ext cx="10789920" cy="1280160"/>
          </a:xfrm>
          <a:prstGeom prst="rect">
            <a:avLst/>
          </a:prstGeom>
          <a:noFill/>
        </p:spPr>
        <p:txBody>
          <a:bodyPr wrap="square">
            <a:spAutoFit/>
          </a:bodyPr>
          <a:lstStyle/>
          <a:p>
            <a:r>
              <a:rPr sz="1500" b="0">
                <a:solidFill>
                  <a:srgbClr val="5A5A5A"/>
                </a:solidFill>
              </a:rPr>
              <a:t>Nothing measurable from the model itself. Ensembling returned +0.0017 and the shipped model runs on LightGBM defaults.</a:t>
            </a:r>
          </a:p>
          <a:p>
            <a:r>
              <a:rPr sz="1500" b="0">
                <a:solidFill>
                  <a:srgbClr val="5A5A5A"/>
                </a:solidFill>
              </a:rPr>
              <a:t>This is not the split any of us expected when we started.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r>
              <a:rPr sz="2800" b="1">
                <a:solidFill>
                  <a:srgbClr val="1A1A1A"/>
                </a:solidFill>
              </a:rPr>
              <a:t>Limitations, and what is still open</a:t>
            </a:r>
          </a:p>
        </p:txBody>
      </p:sp>
      <p:sp>
        <p:nvSpPr>
          <p:cNvPr id="3" name="TextBox 2"/>
          <p:cNvSpPr txBox="1"/>
          <p:nvPr/>
        </p:nvSpPr>
        <p:spPr>
          <a:xfrm>
            <a:off x="640080" y="1737360"/>
            <a:ext cx="10972800" cy="3200400"/>
          </a:xfrm>
          <a:prstGeom prst="rect">
            <a:avLst/>
          </a:prstGeom>
          <a:noFill/>
        </p:spPr>
        <p:txBody>
          <a:bodyPr wrap="square">
            <a:spAutoFit/>
          </a:bodyPr>
          <a:lstStyle/>
          <a:p>
            <a:pPr>
              <a:spcAft>
                <a:spcPts val="900"/>
              </a:spcAft>
            </a:pPr>
            <a:r>
              <a:rPr sz="1650">
                <a:solidFill>
                  <a:srgbClr val="1A1A1A"/>
                </a:solidFill>
              </a:rPr>
              <a:t>- Predicted share cannot be validated locally. Every share decision rests on leaderboard feedback, and we managed that risk rather than solving it.</a:t>
            </a:r>
          </a:p>
          <a:p>
            <a:pPr>
              <a:spcAft>
                <a:spcPts val="900"/>
              </a:spcAft>
            </a:pPr>
            <a:r>
              <a:rPr sz="1650">
                <a:solidFill>
                  <a:srgbClr val="1A1A1A"/>
                </a:solidFill>
              </a:rPr>
              <a:t>- The grouped protocol is trustworthy to about 0.03 in level. It ranks candidates; it does not forecast a score.</a:t>
            </a:r>
          </a:p>
          <a:p>
            <a:pPr>
              <a:spcAft>
                <a:spcPts val="900"/>
              </a:spcAft>
            </a:pPr>
            <a:r>
              <a:rPr sz="1650">
                <a:solidFill>
                  <a:srgbClr val="1A1A1A"/>
                </a:solidFill>
              </a:rPr>
              <a:t>- A ~0.075 standard-CV to leaderboard gap remains. The brief says to expect it.</a:t>
            </a:r>
          </a:p>
          <a:p>
            <a:pPr>
              <a:spcAft>
                <a:spcPts val="900"/>
              </a:spcAft>
            </a:pPr>
            <a:r>
              <a:rPr sz="1650">
                <a:solidFill>
                  <a:srgbClr val="1A1A1A"/>
                </a:solidFill>
              </a:rPr>
              <a:t>- Open: hyperparameter search on this representation, designed and split five ways, not yet run. A second model family, specified but unmeasured.</a:t>
            </a:r>
          </a:p>
          <a:p>
            <a:pPr>
              <a:spcAft>
                <a:spcPts val="900"/>
              </a:spcAft>
            </a:pPr>
            <a:r>
              <a:rPr sz="1650">
                <a:solidFill>
                  <a:srgbClr val="1A1A1A"/>
                </a:solidFill>
              </a:rPr>
              <a:t> </a:t>
            </a:r>
          </a:p>
          <a:p>
            <a:pPr>
              <a:spcAft>
                <a:spcPts val="900"/>
              </a:spcAft>
            </a:pPr>
            <a:r>
              <a:rPr sz="1650">
                <a:solidFill>
                  <a:srgbClr val="1A1A1A"/>
                </a:solidFill>
              </a:rPr>
              <a:t>- Final picks pair the best public point with a more central one, because our share coordinates are fitted to a leaderboard with a known noise floor.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